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Açılış: Bu çalışma, yerelde çalışan kodlama ajanlarının uzaktaki istemci hatalarını görememesi problemine odaklanıyor. Bugünkü web prototipi sunum simülasyonudur; henüz Supabase'e veya Gemma'ya bağlı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Temel darboğaz, geliştirici ajanının repo içinde çalışması ama hatanın yaşandığı fiziksel/uzak istemciye erişememesi. Bu araştırma fikridir; etkisi henüz ölçülmedi.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Ajan doğrudan SQL veya sınırsız DB erişimi almamalı. Host runtime aracı kaydeder, kimlik kapsamını güvenilir oturumdan sağlar, Supabase RLS ile korur. Şu an bu, hedef mimari; çalışan canlı akış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Örnek olay simüle edilmiş veridir. Logda kişisel veri veya ham kullanıcı içeriği olmamalı. Agent kök nedeni sadece event adından çıkarmamalı; kod ve test ile doğrulamalı.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slayt prototipin kapsamını şeffaf biçimde anlatır. Sunum demosu yerel in-memory mock'tur. Python modülünün PostgREST yolu opsiyonel olarak yazıldı ancak canlı Supabase üzerinde doğrulanmadı.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Kapanışta araştırma planı ve kanıt gereksinimi vurgulanır. Önce güvenli gerçek entegrasyon, sonra benchmark. Salt demo çıktısı veya sentetik log başarı iddiası için yeterli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B4D69A"/>
                </a:solidFill>
                <a:latin typeface="Arial"/>
              </a:defRPr>
            </a:pPr>
            <a:r>
              <a:t>GEMMA 4 DEVELOPER AGENT · PAPER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97840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4200" b="1">
                <a:solidFill>
                  <a:srgbClr val="F4F1E8"/>
                </a:solidFill>
                <a:latin typeface="Arial"/>
              </a:defRPr>
            </a:pPr>
            <a:r>
              <a:t>Uzak istemci.</a:t>
            </a:r>
          </a:p>
          <a:p>
            <a:pPr algn="l">
              <a:spcAft>
                <a:spcPts val="400"/>
              </a:spcAft>
              <a:defRPr sz="4200" b="1">
                <a:solidFill>
                  <a:srgbClr val="F4F1E8"/>
                </a:solidFill>
                <a:latin typeface="Arial"/>
              </a:defRPr>
            </a:pPr>
            <a:r>
              <a:t>Görünür hata.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9476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AD4CB"/>
                </a:solidFill>
                <a:latin typeface="Arial"/>
              </a:defRPr>
            </a:pPr>
            <a:r>
              <a:t>Yerel kodlama ajanlarına iOS ve edge uygulamalarından yapılandırılmış hata telemetrisi sunma fikri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166360"/>
            <a:ext cx="1874519" cy="438912"/>
          </a:xfrm>
          <a:prstGeom prst="roundRect">
            <a:avLst/>
          </a:prstGeom>
          <a:solidFill>
            <a:srgbClr val="D8F278"/>
          </a:solidFill>
          <a:ln>
            <a:solidFill>
              <a:srgbClr val="D8F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5276088"/>
            <a:ext cx="1554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72522"/>
                </a:solidFill>
                <a:latin typeface="Arial"/>
              </a:defRPr>
            </a:pPr>
            <a:r>
              <a:t>PROTOTİP SUNUMU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636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94A69C"/>
                </a:solidFill>
                <a:latin typeface="Arial"/>
              </a:defRPr>
            </a:pPr>
            <a:r>
              <a:t>TELEMETRY LAB  /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F6B52"/>
                </a:solidFill>
                <a:latin typeface="Arial"/>
              </a:defRPr>
            </a:pPr>
            <a: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202A27"/>
                </a:solidFill>
                <a:latin typeface="Arial"/>
              </a:defRPr>
            </a:pPr>
            <a:r>
              <a:t>Ajanın göremediği hata, teşhisi yavaşlatır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3832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F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72807A"/>
                </a:solidFill>
                <a:latin typeface="Arial"/>
              </a:defRPr>
            </a:pPr>
            <a:r>
              <a:t>UZAK İSTEMCİ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43200"/>
            <a:ext cx="27889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202A27"/>
                </a:solidFill>
                <a:latin typeface="Arial"/>
              </a:defRPr>
            </a:pPr>
            <a:r>
              <a:t>iOS uygulamasında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202A27"/>
                </a:solidFill>
                <a:latin typeface="Arial"/>
              </a:defRPr>
            </a:pPr>
            <a:r>
              <a:t>highlight paleti açılmıyor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25196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72807A"/>
                </a:solidFill>
                <a:latin typeface="Arial"/>
              </a:defRPr>
            </a:pPr>
            <a:r>
              <a:t>Geliştirici sorunu raporlar; cihaz ajanın erişim alanı dışındadır.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1005840" y="54864"/>
            <a:ext cx="3429000" cy="2916936"/>
          </a:xfrm>
          <a:prstGeom prst="line">
            <a:avLst/>
          </a:prstGeom>
          <a:ln>
            <a:solidFill>
              <a:srgbClr val="93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897880" y="1828800"/>
            <a:ext cx="2880360" cy="3337560"/>
          </a:xfrm>
          <a:prstGeom prst="roundRect">
            <a:avLst/>
          </a:prstGeom>
          <a:solidFill>
            <a:srgbClr val="E8EEE7"/>
          </a:solidFill>
          <a:ln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14884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F6B52"/>
                </a:solidFill>
                <a:latin typeface="Arial"/>
              </a:defRPr>
            </a:pPr>
            <a:r>
              <a:t>YEREL KODLAMA AJANI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43200"/>
            <a:ext cx="2286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02A27"/>
                </a:solidFill>
                <a:latin typeface="Arial"/>
              </a:defRPr>
            </a:pPr>
            <a:r>
              <a:t>Repo ve testleri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202A27"/>
                </a:solidFill>
                <a:latin typeface="Arial"/>
              </a:defRPr>
            </a:pPr>
            <a:r>
              <a:t>görür, cihazı görmez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72807A"/>
                </a:solidFill>
                <a:latin typeface="Arial"/>
              </a:defRPr>
            </a:pPr>
            <a:r>
              <a:t>Eksik bağlam yanlış varsayım ve uzun arama doğurabilir.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828800"/>
            <a:ext cx="2240280" cy="3337560"/>
          </a:xfrm>
          <a:prstGeom prst="roundRect">
            <a:avLst/>
          </a:prstGeom>
          <a:solidFill>
            <a:srgbClr val="F8E9E5"/>
          </a:solidFill>
          <a:ln>
            <a:solidFill>
              <a:srgbClr val="EAD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24028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A74436"/>
                </a:solidFill>
                <a:latin typeface="Arial"/>
              </a:defRPr>
            </a:pPr>
            <a:r>
              <a:t>ARAŞTIRMA SORUSU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788920"/>
            <a:ext cx="16916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542F29"/>
                </a:solidFill>
                <a:latin typeface="Arial"/>
              </a:defRPr>
            </a:pPr>
            <a:r>
              <a:t>Uzaktan gelen güvenli loglar teşhise yardım eder mi?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F6B52"/>
                </a:solidFill>
                <a:latin typeface="Arial"/>
              </a:defRPr>
            </a:pPr>
            <a:r>
              <a:t>02 / ÖNERİLEN MİMARİ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202A27"/>
                </a:solidFill>
                <a:latin typeface="Arial"/>
              </a:defRPr>
            </a:pPr>
            <a:r>
              <a:t>Telemetri, ajana kontrollü bir araçla ulaşır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011680"/>
            <a:ext cx="2240280" cy="1417320"/>
          </a:xfrm>
          <a:prstGeom prst="roundRect">
            <a:avLst/>
          </a:prstGeom>
          <a:solidFill>
            <a:srgbClr val="F3F5F1"/>
          </a:solidFill>
          <a:ln>
            <a:solidFill>
              <a:srgbClr val="DF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58568"/>
            <a:ext cx="1783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F6B52"/>
                </a:solidFill>
                <a:latin typeface="Arial"/>
              </a:defRPr>
            </a:pPr>
            <a:r>
              <a:t>1 · İSTEMCİ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783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202A27"/>
                </a:solidFill>
                <a:latin typeface="Arial"/>
              </a:defRPr>
            </a:pPr>
            <a:r>
              <a:t>Olayı yakala</a:t>
            </a:r>
          </a:p>
          <a:p>
            <a:pPr algn="l">
              <a:spcAft>
                <a:spcPts val="400"/>
              </a:spcAft>
              <a:defRPr sz="1700" b="1">
                <a:solidFill>
                  <a:srgbClr val="202A27"/>
                </a:solidFill>
                <a:latin typeface="Arial"/>
              </a:defRPr>
            </a:pPr>
            <a:r>
              <a:t>ve gönder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411480" y="45720"/>
            <a:ext cx="2560320" cy="2651760"/>
          </a:xfrm>
          <a:prstGeom prst="line">
            <a:avLst/>
          </a:prstGeom>
          <a:ln>
            <a:solidFill>
              <a:srgbClr val="829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0440" y="2011680"/>
            <a:ext cx="2240280" cy="1417320"/>
          </a:xfrm>
          <a:prstGeom prst="roundRect">
            <a:avLst/>
          </a:prstGeom>
          <a:solidFill>
            <a:srgbClr val="E8EEE7"/>
          </a:solidFill>
          <a:ln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258568"/>
            <a:ext cx="1783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F6B52"/>
                </a:solidFill>
                <a:latin typeface="Arial"/>
              </a:defRPr>
            </a:pPr>
            <a:r>
              <a:t>2 · VERİ KATMANI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697480"/>
            <a:ext cx="1783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202A27"/>
                </a:solidFill>
                <a:latin typeface="Arial"/>
              </a:defRPr>
            </a:pPr>
            <a:r>
              <a:t>Supabase</a:t>
            </a:r>
          </a:p>
          <a:p>
            <a:pPr algn="l">
              <a:spcAft>
                <a:spcPts val="400"/>
              </a:spcAft>
              <a:defRPr sz="1700" b="1">
                <a:solidFill>
                  <a:srgbClr val="202A27"/>
                </a:solidFill>
                <a:latin typeface="Arial"/>
              </a:defRPr>
            </a:pPr>
            <a:r>
              <a:t>client_logs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411480" y="45720"/>
            <a:ext cx="5486400" cy="2651760"/>
          </a:xfrm>
          <a:prstGeom prst="line">
            <a:avLst/>
          </a:prstGeom>
          <a:ln>
            <a:solidFill>
              <a:srgbClr val="829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46520" y="2011680"/>
            <a:ext cx="2240280" cy="1417320"/>
          </a:xfrm>
          <a:prstGeom prst="roundRect">
            <a:avLst/>
          </a:prstGeom>
          <a:solidFill>
            <a:srgbClr val="FFF4D6"/>
          </a:solidFill>
          <a:ln>
            <a:solidFill>
              <a:srgbClr val="EBD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258568"/>
            <a:ext cx="1783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8A6D24"/>
                </a:solidFill>
                <a:latin typeface="Arial"/>
              </a:defRPr>
            </a:pPr>
            <a:r>
              <a:t>3 ·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97480"/>
            <a:ext cx="1783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02A27"/>
                </a:solidFill>
                <a:latin typeface="Arial"/>
              </a:defRPr>
            </a:pPr>
            <a:r>
              <a:t>fetch_client_logs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202A27"/>
                </a:solidFill>
                <a:latin typeface="Arial"/>
              </a:defRPr>
            </a:pPr>
            <a:r>
              <a:t>filtrele ve sınırla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411480" y="45720"/>
            <a:ext cx="8412480" cy="2651760"/>
          </a:xfrm>
          <a:prstGeom prst="line">
            <a:avLst/>
          </a:prstGeom>
          <a:ln>
            <a:solidFill>
              <a:srgbClr val="829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72600" y="2011680"/>
            <a:ext cx="2240280" cy="1417320"/>
          </a:xfrm>
          <a:prstGeom prst="roundRect">
            <a:avLst/>
          </a:prstGeom>
          <a:solidFill>
            <a:srgbClr val="172522"/>
          </a:solidFill>
          <a:ln>
            <a:solidFill>
              <a:srgbClr val="172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258568"/>
            <a:ext cx="1783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B4D69A"/>
                </a:solidFill>
                <a:latin typeface="Arial"/>
              </a:defRPr>
            </a:pPr>
            <a:r>
              <a:t>4 · AJAN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697480"/>
            <a:ext cx="1783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Kanıtı incele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ve patch öner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69080"/>
            <a:ext cx="10789920" cy="1143000"/>
          </a:xfrm>
          <a:prstGeom prst="roundRect">
            <a:avLst/>
          </a:prstGeom>
          <a:solidFill>
            <a:srgbClr val="F3F5F1"/>
          </a:solidFill>
          <a:ln>
            <a:solidFill>
              <a:srgbClr val="DF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80"/>
            <a:ext cx="9966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33463B"/>
                </a:solidFill>
                <a:latin typeface="Arial"/>
              </a:defRPr>
            </a:pPr>
            <a:r>
              <a:t>Güven sınırı: oturumdan türetilen kullanıcı kapsamı · RLS · sınırlı sonuç · log içeriği güvenilmeyen veri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8A958E"/>
                </a:solidFill>
                <a:latin typeface="Arial"/>
              </a:defRPr>
            </a:pPr>
            <a:r>
              <a:t>Önerilen akış; canlı Supabase ve AI entegrasyonu henüz uçtan uca doğrulanmadı.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F6B52"/>
                </a:solidFill>
                <a:latin typeface="Arial"/>
              </a:defRPr>
            </a:pPr>
            <a:r>
              <a:t>03 / ÖRNEK VAKA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202A27"/>
                </a:solidFill>
                <a:latin typeface="Arial"/>
              </a:defRPr>
            </a:pPr>
            <a:r>
              <a:t>Highlight paleti açılmıyor: kanıttan düzeltmeye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3429000"/>
          </a:xfrm>
          <a:prstGeom prst="roundRect">
            <a:avLst/>
          </a:prstGeom>
          <a:solidFill>
            <a:srgbClr val="172522"/>
          </a:solidFill>
          <a:ln>
            <a:solidFill>
              <a:srgbClr val="172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B4D69A"/>
                </a:solidFill>
                <a:latin typeface="Arial"/>
              </a:defRPr>
            </a:pPr>
            <a:r>
              <a:t>İSTEMCİDEN GELEN YAPISAL OLAY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97480"/>
            <a:ext cx="434340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4F1E8"/>
                </a:solidFill>
                <a:latin typeface="Courier New"/>
              </a:defRPr>
            </a:pPr>
            <a:r>
              <a:t>event: highlight_palette_presentation_failed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4F1E8"/>
                </a:solidFill>
                <a:latin typeface="Courier New"/>
              </a:defRPr>
            </a:pPr>
            <a:r>
              <a:t>level: error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4F1E8"/>
                </a:solidFill>
                <a:latin typeface="Courier New"/>
              </a:defRPr>
            </a:pPr>
            <a:r>
              <a:t>view: HighlightPaletteView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4F1E8"/>
                </a:solidFill>
                <a:latin typeface="Courier New"/>
              </a:defRPr>
            </a:pPr>
            <a:r>
              <a:t>action: open_palette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4F1E8"/>
                </a:solidFill>
                <a:latin typeface="Courier New"/>
              </a:defRPr>
            </a:pPr>
            <a:r>
              <a:t>failure_code: missing_presentation_context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0749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F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4434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F6B52"/>
                </a:solidFill>
                <a:latin typeface="Arial"/>
              </a:defRPr>
            </a:pPr>
            <a:r>
              <a:t>AJANIN ÖNERİLEN İŞ AKIŞI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97480"/>
            <a:ext cx="4434840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33463B"/>
                </a:solidFill>
                <a:latin typeface="Arial"/>
              </a:defRPr>
            </a:pPr>
            <a:r>
              <a:t>1. İlgili logları araçla al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33463B"/>
                </a:solidFill>
                <a:latin typeface="Arial"/>
              </a:defRPr>
            </a:pPr>
            <a:r>
              <a:t>2. Repo içinde palette sunum yolunu bul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33463B"/>
                </a:solidFill>
                <a:latin typeface="Arial"/>
              </a:defRPr>
            </a:pPr>
            <a:r>
              <a:t>3. Hipotezi test veya reproducer ile sın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33463B"/>
                </a:solidFill>
                <a:latin typeface="Arial"/>
              </a:defRPr>
            </a:pPr>
            <a:r>
              <a:t>4. Minimal düzeltme öner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33463B"/>
                </a:solidFill>
                <a:latin typeface="Arial"/>
              </a:defRPr>
            </a:pPr>
            <a:r>
              <a:t>5. Doğrulama yoksa bunu açıkça bildir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69280"/>
            <a:ext cx="10607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A74436"/>
                </a:solidFill>
                <a:latin typeface="Arial"/>
              </a:defRPr>
            </a:pPr>
            <a:r>
              <a:t>Log, kök nedeni kanıtlamaz; araştırmayı yönlendiren bir sinyaldir.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F6B52"/>
                </a:solidFill>
                <a:latin typeface="Arial"/>
              </a:defRPr>
            </a:pPr>
            <a:r>
              <a:t>04 / BUGÜNKÜ PROTOTİP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202A27"/>
                </a:solidFill>
                <a:latin typeface="Arial"/>
              </a:defRPr>
            </a:pPr>
            <a:r>
              <a:t>Sunum demosu ile hedef sistemi ayıralım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983480" cy="3520440"/>
          </a:xfrm>
          <a:prstGeom prst="roundRect">
            <a:avLst/>
          </a:prstGeom>
          <a:solidFill>
            <a:srgbClr val="E8EEE7"/>
          </a:solidFill>
          <a:ln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F6B52"/>
                </a:solidFill>
                <a:latin typeface="Arial"/>
              </a:defRPr>
            </a:pPr>
            <a:r>
              <a:t>ÇALIŞAN SUNUM DEMOSU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43200"/>
            <a:ext cx="434340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283B31"/>
                </a:solidFill>
                <a:latin typeface="Arial"/>
              </a:defRPr>
            </a:pPr>
            <a:r>
              <a:t>• Vite web arayüzü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283B31"/>
                </a:solidFill>
                <a:latin typeface="Arial"/>
              </a:defRPr>
            </a:pPr>
            <a:r>
              <a:t>• Highlight hatası simülasyonu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283B31"/>
                </a:solidFill>
                <a:latin typeface="Arial"/>
              </a:defRPr>
            </a:pPr>
            <a:r>
              <a:t>• Bellekte örnek log listesi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283B31"/>
                </a:solidFill>
                <a:latin typeface="Arial"/>
              </a:defRPr>
            </a:pPr>
            <a:r>
              <a:t>• Build başarılı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283B31"/>
                </a:solidFill>
                <a:latin typeface="Arial"/>
              </a:defRPr>
            </a:pPr>
            <a:r>
              <a:t>• Python mock testleri: 4/4 geçti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74920" cy="3520440"/>
          </a:xfrm>
          <a:prstGeom prst="roundRect">
            <a:avLst/>
          </a:prstGeom>
          <a:solidFill>
            <a:srgbClr val="F8E9E5"/>
          </a:solidFill>
          <a:ln>
            <a:solidFill>
              <a:srgbClr val="EAD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148840"/>
            <a:ext cx="4434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A74436"/>
                </a:solidFill>
                <a:latin typeface="Arial"/>
              </a:defRPr>
            </a:pPr>
            <a:r>
              <a:t>HENÜZ YAPILMAMIŞ / DOĞRULANMAMIŞ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743200"/>
            <a:ext cx="443484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542F29"/>
                </a:solidFill>
                <a:latin typeface="Arial"/>
              </a:defRPr>
            </a:pPr>
            <a:r>
              <a:t>• Web demosu Supabase'e yazmıyor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542F29"/>
                </a:solidFill>
                <a:latin typeface="Arial"/>
              </a:defRPr>
            </a:pPr>
            <a:r>
              <a:t>• Canlı RLS testi yapılmadı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542F29"/>
                </a:solidFill>
                <a:latin typeface="Arial"/>
              </a:defRPr>
            </a:pPr>
            <a:r>
              <a:t>• AI tool-call runtime bağlı değil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542F29"/>
                </a:solidFill>
                <a:latin typeface="Arial"/>
              </a:defRPr>
            </a:pPr>
            <a:r>
              <a:t>• Gemma 4 deneyi yok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542F29"/>
                </a:solidFill>
                <a:latin typeface="Arial"/>
              </a:defRPr>
            </a:pPr>
            <a:r>
              <a:t>• Başarı artışı ölçülmedi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06440"/>
            <a:ext cx="10607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2807A"/>
                </a:solidFill>
                <a:latin typeface="Arial"/>
              </a:defRPr>
            </a:pPr>
            <a:r>
              <a:t>Mevcut çıktı: araştırma fikri + sunum mock'u + ayrı Python retrieval PoC'si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B4D69A"/>
                </a:solidFill>
                <a:latin typeface="Arial"/>
              </a:defRPr>
            </a:pPr>
            <a:r>
              <a:t>05 / SONRAKİ ADIMLAR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3100" b="1">
                <a:solidFill>
                  <a:srgbClr val="F4F1E8"/>
                </a:solidFill>
                <a:latin typeface="Arial"/>
              </a:defRPr>
            </a:pPr>
            <a:r>
              <a:t>Fikirden araştırma kanıtına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12064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E1E9E1"/>
                </a:solidFill>
                <a:latin typeface="Arial"/>
              </a:defRPr>
            </a:pPr>
            <a:r>
              <a:t>01  Canlı Supabase erişimini güvenli kur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E1E9E1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E1E9E1"/>
                </a:solidFill>
                <a:latin typeface="Arial"/>
              </a:defRPr>
            </a:pPr>
            <a:r>
              <a:t>02  RLS ve kullanıcı kapsamını test et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E1E9E1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E1E9E1"/>
                </a:solidFill>
                <a:latin typeface="Arial"/>
              </a:defRPr>
            </a:pPr>
            <a:r>
              <a:t>03  fetch_client_logs'u agent runtime'a bağla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828800"/>
            <a:ext cx="493776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E1E9E1"/>
                </a:solidFill>
                <a:latin typeface="Arial"/>
              </a:defRPr>
            </a:pPr>
            <a:r>
              <a:t>04  Tekrarlanabilir hata görevleri oluştur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E1E9E1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E1E9E1"/>
                </a:solidFill>
                <a:latin typeface="Arial"/>
              </a:defRPr>
            </a:pPr>
            <a:r>
              <a:t>05  Telemetri açık/kapalı deneyini karşılaştır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E1E9E1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E1E9E1"/>
                </a:solidFill>
                <a:latin typeface="Arial"/>
              </a:defRPr>
            </a:pPr>
            <a:r>
              <a:t>06  Sonuçları ve sınırlılıkları raporla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10424160" cy="594360"/>
          </a:xfrm>
          <a:prstGeom prst="roundRect">
            <a:avLst/>
          </a:prstGeom>
          <a:solidFill>
            <a:srgbClr val="D8F278"/>
          </a:solidFill>
          <a:ln>
            <a:solidFill>
              <a:srgbClr val="D8F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650992"/>
            <a:ext cx="9966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172522"/>
                </a:solidFill>
                <a:latin typeface="Arial"/>
              </a:defRPr>
            </a:pPr>
            <a:r>
              <a:t>BAŞARI ÖLÇÜTÜ: daha iyi teşhis ve doğrulanmış patch — yalnızca daha çok log değil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94A69C"/>
                </a:solidFill>
                <a:latin typeface="Arial"/>
              </a:defRPr>
            </a:pPr>
            <a:r>
              <a:t>TELEMETRY LAB  /  SORULAR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